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6" r:id="rId5"/>
    <p:sldId id="257" r:id="rId6"/>
    <p:sldId id="290" r:id="rId7"/>
    <p:sldId id="293" r:id="rId8"/>
    <p:sldId id="258" r:id="rId9"/>
    <p:sldId id="278" r:id="rId10"/>
    <p:sldId id="292" r:id="rId11"/>
    <p:sldId id="283" r:id="rId12"/>
    <p:sldId id="286" r:id="rId13"/>
    <p:sldId id="287" r:id="rId14"/>
    <p:sldId id="288" r:id="rId15"/>
    <p:sldId id="289" r:id="rId16"/>
    <p:sldId id="280" r:id="rId17"/>
    <p:sldId id="282" r:id="rId18"/>
    <p:sldId id="285" r:id="rId19"/>
    <p:sldId id="284" r:id="rId20"/>
    <p:sldId id="27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F1919"/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0655" autoAdjust="0"/>
  </p:normalViewPr>
  <p:slideViewPr>
    <p:cSldViewPr snapToGrid="0">
      <p:cViewPr varScale="1">
        <p:scale>
          <a:sx n="97" d="100"/>
          <a:sy n="97" d="100"/>
        </p:scale>
        <p:origin x="954" y="72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99CA3-6146-3C65-3CD8-733AC9390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790A01-ADF4-25C9-301F-6DF776B21C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B224C9-1116-A896-3600-282DEDE527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DC17BB-103B-B76A-192B-367ADEE918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591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D6FC8-5223-7FF2-018A-83B504092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EE1AAE-95C0-7CF8-8233-FD9BB1C1BA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45E15B-805B-5692-6CE7-C42DB1BB5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9C8C3-F80F-452D-274E-4762B4ECFD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3809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9867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EFC29-3E5A-18D6-53D8-6E07E2C13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054D80-9258-8BA0-56D5-AA13DB0787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0740EA-9B79-C58B-EA76-5E041B833C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1D3AB-5239-4E6D-9342-A02927C437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4834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BC7F1-8F6C-8344-7CC8-AD34D06D0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8AD21B-AC5D-4587-AF61-6ACA6F2495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84427E-8D62-D4B4-2950-4529953AA0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A7166-B93E-5704-1558-44DA871752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7232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9E77A-228F-FDB3-5601-C9385B9CA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32E678-9055-0A3D-822C-87DDD55A37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F532FB-3350-FDCB-EEE5-B54444BAB7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6AE30-2A0C-F71C-E4B5-15E4789A32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0353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C01BC-FA94-F118-FFAB-149540E40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43C4FD-79C9-7CA9-5684-C6BF5713C7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A33C3F-458B-AA47-22DF-AC44979697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BA0C84-B2F6-70F9-5F09-AFCC030509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7444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1440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593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7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4654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5435450" cy="3200400"/>
          </a:xfrm>
        </p:spPr>
        <p:txBody>
          <a:bodyPr anchor="ctr"/>
          <a:lstStyle/>
          <a:p>
            <a:r>
              <a:rPr lang="en-US" dirty="0"/>
              <a:t>Accuracy Evaluation Process and Criteria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/>
          <a:p>
            <a:r>
              <a:rPr lang="en-US" dirty="0"/>
              <a:t>Overview</a:t>
            </a:r>
          </a:p>
          <a:p>
            <a:r>
              <a:rPr lang="en-US" dirty="0"/>
              <a:t>The Criteria</a:t>
            </a:r>
          </a:p>
          <a:p>
            <a:r>
              <a:rPr lang="en-US" dirty="0"/>
              <a:t>Total Accuracy</a:t>
            </a:r>
          </a:p>
          <a:p>
            <a:r>
              <a:rPr lang="en-US" dirty="0"/>
              <a:t>Final tips &amp; takeaways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05FB1-EF46-7205-27B5-051AEB7FF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28BAB-DB3C-3DAF-0EA7-AD9AB5FA2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B1522-0202-2C91-247C-B4C46E548C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7" y="2763078"/>
            <a:ext cx="7919935" cy="3826562"/>
          </a:xfrm>
        </p:spPr>
        <p:txBody>
          <a:bodyPr>
            <a:normAutofit/>
          </a:bodyPr>
          <a:lstStyle/>
          <a:p>
            <a:r>
              <a:rPr lang="en-US" dirty="0"/>
              <a:t>General Info</a:t>
            </a:r>
          </a:p>
          <a:p>
            <a:pPr lvl="1"/>
            <a:r>
              <a:rPr lang="en-US" dirty="0"/>
              <a:t>The following slides accompany the research study </a:t>
            </a:r>
            <a:r>
              <a:rPr lang="en-US" b="1" dirty="0"/>
              <a:t>“</a:t>
            </a:r>
            <a:r>
              <a:rPr lang="en-US" b="1" i="1" dirty="0"/>
              <a:t>Chain-of-Thought vs. Few-Shot: A Comparative Study of Prompting Strategies for Code Generation.</a:t>
            </a:r>
            <a:r>
              <a:rPr lang="en-US" b="1" dirty="0"/>
              <a:t>” by K. Nobakhtfar, K. </a:t>
            </a:r>
            <a:r>
              <a:rPr lang="en-US" b="1" dirty="0" err="1"/>
              <a:t>Çakılcı</a:t>
            </a:r>
            <a:r>
              <a:rPr lang="en-US" b="1" dirty="0"/>
              <a:t> and R. Zilan</a:t>
            </a:r>
          </a:p>
          <a:p>
            <a:pPr lvl="1"/>
            <a:r>
              <a:rPr lang="en-US" dirty="0"/>
              <a:t>The study evaluates performance based on four primary metrics: prompt verbosity, response verbosity, cost, and accuracy.</a:t>
            </a:r>
          </a:p>
          <a:p>
            <a:pPr lvl="1"/>
            <a:r>
              <a:rPr lang="en-US" dirty="0"/>
              <a:t>The following slides provide a detailed breakdown of our accuracy criteria and its evaluation process.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02727EF-9490-225D-D896-CD1BF11EB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047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EA0E9-C136-40F5-FD26-ED8707B29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71280-64E9-E6DC-B750-D70029C0D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6AA449-0127-2936-448F-D9A9C28163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7" y="2763078"/>
            <a:ext cx="8096915" cy="3826562"/>
          </a:xfrm>
        </p:spPr>
        <p:txBody>
          <a:bodyPr>
            <a:normAutofit/>
          </a:bodyPr>
          <a:lstStyle/>
          <a:p>
            <a:r>
              <a:rPr lang="en-US" dirty="0"/>
              <a:t>About the Accuracy</a:t>
            </a:r>
          </a:p>
          <a:p>
            <a:pPr lvl="1"/>
            <a:r>
              <a:rPr lang="en-US" dirty="0"/>
              <a:t>The accuracy metric was further broken down into five sub-metrics: Factual Correctness, Reasoning Quality, Coherency &amp; Clarity, Completeness, and Understanding Depth.</a:t>
            </a:r>
          </a:p>
          <a:p>
            <a:pPr lvl="1"/>
            <a:r>
              <a:rPr lang="en-US" dirty="0"/>
              <a:t>The model’s self-evaluation was considered unreliable.</a:t>
            </a:r>
          </a:p>
          <a:p>
            <a:pPr lvl="1"/>
            <a:r>
              <a:rPr lang="en-US" dirty="0"/>
              <a:t>Two human evaluators assessed the responses generated by the model.</a:t>
            </a:r>
          </a:p>
          <a:p>
            <a:pPr lvl="1"/>
            <a:r>
              <a:rPr lang="en-US" dirty="0"/>
              <a:t>The evaluation results are provided in the tasks' data files, as well as in the main Excel file in a comprehensive table.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1236A9F-2D7A-27DA-7DF0-014FFF15D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670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8313225" cy="3407051"/>
          </a:xfrm>
        </p:spPr>
        <p:txBody>
          <a:bodyPr>
            <a:normAutofit/>
          </a:bodyPr>
          <a:lstStyle/>
          <a:p>
            <a:r>
              <a:rPr lang="en-US" dirty="0"/>
              <a:t>The Accuracy Evaluation Process</a:t>
            </a:r>
          </a:p>
          <a:p>
            <a:pPr lvl="1"/>
            <a:r>
              <a:rPr lang="en-US" dirty="0"/>
              <a:t>Each evaluator evaluated the responses independently.</a:t>
            </a:r>
          </a:p>
          <a:p>
            <a:pPr lvl="1"/>
            <a:r>
              <a:rPr lang="en-US" dirty="0"/>
              <a:t>Each response is evaluated across several criteria.</a:t>
            </a:r>
          </a:p>
          <a:p>
            <a:pPr lvl="1"/>
            <a:r>
              <a:rPr lang="en-US" dirty="0"/>
              <a:t>Each criterion is rated on a 1–5 scale (1 = Poor, 5 = Excellent).</a:t>
            </a:r>
          </a:p>
          <a:p>
            <a:pPr lvl="1"/>
            <a:r>
              <a:rPr lang="en-US" dirty="0"/>
              <a:t>The Weighted Total Accuracy is calculated for each evaluation separately.</a:t>
            </a:r>
          </a:p>
          <a:p>
            <a:pPr lvl="1"/>
            <a:r>
              <a:rPr lang="en-US" dirty="0"/>
              <a:t>The Weighted Total Accuracy is based on the scores given by the evaluator and the associated weight of each criterion.</a:t>
            </a:r>
          </a:p>
          <a:p>
            <a:pPr lvl="1"/>
            <a:r>
              <a:rPr lang="en-US" dirty="0"/>
              <a:t>Short notes may also be included for qualitative comparison.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/>
          <a:lstStyle/>
          <a:p>
            <a:r>
              <a:rPr lang="en-US" dirty="0"/>
              <a:t>The Criteria</a:t>
            </a:r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58B4B-3A35-F8D4-AF90-24A21B4F6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710BA34-71F3-5D8B-F80A-BD5FDFE944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70751" y="320573"/>
            <a:ext cx="10050498" cy="603395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0063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21055C-5E33-5D21-2A6E-21827FA88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/>
          <a:p>
            <a:r>
              <a:rPr lang="en-US" dirty="0"/>
              <a:t>Factual Correctness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87B122-1579-FDB8-443B-F05E622163C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38200" y="2813049"/>
            <a:ext cx="3247662" cy="3238499"/>
          </a:xfrm>
        </p:spPr>
        <p:txBody>
          <a:bodyPr>
            <a:normAutofit/>
          </a:bodyPr>
          <a:lstStyle/>
          <a:p>
            <a:r>
              <a:rPr lang="en-US" dirty="0"/>
              <a:t>Weight: 25%</a:t>
            </a:r>
          </a:p>
          <a:p>
            <a:r>
              <a:rPr lang="en-US" dirty="0"/>
              <a:t>Evaluates the extend to which the generated response is factually accurate.</a:t>
            </a:r>
          </a:p>
        </p:txBody>
      </p:sp>
      <p:graphicFrame>
        <p:nvGraphicFramePr>
          <p:cNvPr id="10" name="Table Placeholder 2">
            <a:extLst>
              <a:ext uri="{FF2B5EF4-FFF2-40B4-BE49-F238E27FC236}">
                <a16:creationId xmlns:a16="http://schemas.microsoft.com/office/drawing/2014/main" id="{98ED67AF-B48B-F5F8-E2FD-1C98C42C4D54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3246683304"/>
              </p:ext>
            </p:extLst>
          </p:nvPr>
        </p:nvGraphicFramePr>
        <p:xfrm>
          <a:off x="4216399" y="895351"/>
          <a:ext cx="7137400" cy="47520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240504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5896896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</a:tblGrid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b="0" cap="all" baseline="0" dirty="0"/>
                        <a:t>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cap="all" baseline="0" dirty="0"/>
                        <a:t>Descriptor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All key facts and steps are accurate; no incorrect statements.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Minor factual inaccuracies that do not affect the main conclusion.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Some incorrect or missing details, but overall understanding is evident.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Multiple factual errors that affect reasoning or conclusion.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Major factual misunderstanding or wrong final answer.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B0ADB-527F-A58C-9372-D8502ED6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164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B21CF-369D-FDDA-A730-653D41119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8239747-5CC8-0592-691F-970CBAE39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/>
          <a:p>
            <a:r>
              <a:rPr lang="en-US" dirty="0"/>
              <a:t>Reasoning Quality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FB44F70-619D-5D19-A251-B8FCA2DADF11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38200" y="2813049"/>
            <a:ext cx="3247662" cy="3238499"/>
          </a:xfrm>
        </p:spPr>
        <p:txBody>
          <a:bodyPr>
            <a:normAutofit/>
          </a:bodyPr>
          <a:lstStyle/>
          <a:p>
            <a:r>
              <a:rPr lang="en-US" dirty="0"/>
              <a:t>Weight: 25%</a:t>
            </a:r>
          </a:p>
          <a:p>
            <a:r>
              <a:rPr lang="en-US" dirty="0"/>
              <a:t>Assesses the logical coherence and justification of the reasoning steps presented in the response.</a:t>
            </a:r>
          </a:p>
        </p:txBody>
      </p:sp>
      <p:graphicFrame>
        <p:nvGraphicFramePr>
          <p:cNvPr id="10" name="Table Placeholder 2">
            <a:extLst>
              <a:ext uri="{FF2B5EF4-FFF2-40B4-BE49-F238E27FC236}">
                <a16:creationId xmlns:a16="http://schemas.microsoft.com/office/drawing/2014/main" id="{4D200797-8E0D-6FB9-8B10-B8F688EFAD4C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2800074849"/>
              </p:ext>
            </p:extLst>
          </p:nvPr>
        </p:nvGraphicFramePr>
        <p:xfrm>
          <a:off x="4216399" y="895351"/>
          <a:ext cx="7137400" cy="47520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240504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5896896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</a:tblGrid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b="0" cap="all" baseline="0" dirty="0"/>
                        <a:t>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cap="all" baseline="0" dirty="0"/>
                        <a:t>Descriptor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Logical, step-by-step reasoning; clearly justified transitions between steps.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Mostly logical with slight jumps or assumptions.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Reasoning somewhat unclear; some unsupported claims.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Disorganized reasoning with major logical gaps.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No coherent reasoning or explanation present.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B56990-CBBE-38FF-C662-1178DE2DF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803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C6141-AFBB-D891-DFCB-CF0EC71DB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068021-0139-8140-7223-735A4C02A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/>
          <a:p>
            <a:r>
              <a:rPr lang="en-US" dirty="0"/>
              <a:t>Coherency &amp; Clarity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BA28435-54AE-BCEF-6161-0CBB64EBBB64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38200" y="2813049"/>
            <a:ext cx="3247662" cy="3238499"/>
          </a:xfrm>
        </p:spPr>
        <p:txBody>
          <a:bodyPr>
            <a:normAutofit/>
          </a:bodyPr>
          <a:lstStyle/>
          <a:p>
            <a:r>
              <a:rPr lang="en-US" dirty="0"/>
              <a:t>Weight: 20%</a:t>
            </a:r>
          </a:p>
          <a:p>
            <a:r>
              <a:rPr lang="en-US" dirty="0"/>
              <a:t>Measures the overall coherence, clarity, and organization of the generated response.</a:t>
            </a:r>
          </a:p>
        </p:txBody>
      </p:sp>
      <p:graphicFrame>
        <p:nvGraphicFramePr>
          <p:cNvPr id="10" name="Table Placeholder 2">
            <a:extLst>
              <a:ext uri="{FF2B5EF4-FFF2-40B4-BE49-F238E27FC236}">
                <a16:creationId xmlns:a16="http://schemas.microsoft.com/office/drawing/2014/main" id="{5DA0A0CA-60C7-2F40-FDAE-6CA6EC3CB975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3025426854"/>
              </p:ext>
            </p:extLst>
          </p:nvPr>
        </p:nvGraphicFramePr>
        <p:xfrm>
          <a:off x="4216399" y="895351"/>
          <a:ext cx="7137400" cy="47520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240504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5896896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</a:tblGrid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b="0" cap="all" baseline="0" dirty="0"/>
                        <a:t>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cap="all" baseline="0" dirty="0"/>
                        <a:t>Descriptor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Argument flows smoothly; easy to follow; clear language.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Mostly coherent; minor clarity issues.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Understandable but scattered or repetitive.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Difficult to follow due to poor structure or phrasing.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Incoherent or unreadable.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D76B3C-440C-ABF7-0C9E-B2AAEEE93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834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41397-20EB-0974-0F89-242D5A759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334519F-1285-A81F-6AFA-302DCC63D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/>
          <a:p>
            <a:r>
              <a:rPr lang="en-US" dirty="0"/>
              <a:t>Completeness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0123B9-2862-6509-7D11-5620E9652A7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38200" y="2813049"/>
            <a:ext cx="3247662" cy="3238499"/>
          </a:xfrm>
        </p:spPr>
        <p:txBody>
          <a:bodyPr>
            <a:normAutofit/>
          </a:bodyPr>
          <a:lstStyle/>
          <a:p>
            <a:r>
              <a:rPr lang="en-US" dirty="0"/>
              <a:t>Weight: 20%</a:t>
            </a:r>
          </a:p>
          <a:p>
            <a:r>
              <a:rPr lang="en-US" dirty="0"/>
              <a:t>Evaluates the extend to which the response addresses all required aspects of the prompt.</a:t>
            </a:r>
          </a:p>
        </p:txBody>
      </p:sp>
      <p:graphicFrame>
        <p:nvGraphicFramePr>
          <p:cNvPr id="10" name="Table Placeholder 2">
            <a:extLst>
              <a:ext uri="{FF2B5EF4-FFF2-40B4-BE49-F238E27FC236}">
                <a16:creationId xmlns:a16="http://schemas.microsoft.com/office/drawing/2014/main" id="{91EA27ED-4CFF-C18C-ED18-D8CCC9A52AF0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1944587850"/>
              </p:ext>
            </p:extLst>
          </p:nvPr>
        </p:nvGraphicFramePr>
        <p:xfrm>
          <a:off x="4216399" y="895351"/>
          <a:ext cx="7137400" cy="47520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240504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5896896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</a:tblGrid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b="0" cap="all" baseline="0" dirty="0"/>
                        <a:t>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cap="all" baseline="0" dirty="0"/>
                        <a:t>Descriptor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Covers all aspects of the question thoroughly.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Slightly incomplete but captures key points.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Several missing elements or examples.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Major omissions; partial answer.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Severely incomplete or off-topic.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842440-05C6-4196-4441-FA5C641EA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539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955D9-B1AE-9751-8B85-86043CC4F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F0CC71-24E0-656A-174F-9A65AB24B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/>
          <a:p>
            <a:r>
              <a:rPr lang="en-US" dirty="0"/>
              <a:t>Understanding Depth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0AC0728-1D52-5DAF-9CDC-C5418F9353A8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38200" y="2813049"/>
            <a:ext cx="3247662" cy="3238499"/>
          </a:xfrm>
        </p:spPr>
        <p:txBody>
          <a:bodyPr>
            <a:normAutofit/>
          </a:bodyPr>
          <a:lstStyle/>
          <a:p>
            <a:r>
              <a:rPr lang="en-US" dirty="0"/>
              <a:t>Weight: 10%</a:t>
            </a:r>
          </a:p>
          <a:p>
            <a:r>
              <a:rPr lang="en-US" dirty="0"/>
              <a:t>Assesses the depth of conceptual understanding demonstrated in the response.</a:t>
            </a:r>
          </a:p>
        </p:txBody>
      </p:sp>
      <p:graphicFrame>
        <p:nvGraphicFramePr>
          <p:cNvPr id="10" name="Table Placeholder 2">
            <a:extLst>
              <a:ext uri="{FF2B5EF4-FFF2-40B4-BE49-F238E27FC236}">
                <a16:creationId xmlns:a16="http://schemas.microsoft.com/office/drawing/2014/main" id="{A79B1832-1789-6B40-13B8-40B643FEB042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2193946417"/>
              </p:ext>
            </p:extLst>
          </p:nvPr>
        </p:nvGraphicFramePr>
        <p:xfrm>
          <a:off x="4216399" y="895351"/>
          <a:ext cx="7137400" cy="47520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240504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5896896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</a:tblGrid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b="0" cap="all" baseline="0" dirty="0"/>
                        <a:t>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cap="all" baseline="0" dirty="0"/>
                        <a:t>Descriptor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Demonstrates deep insight or advanced understanding.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Good understanding with some original thought.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Surface-level explanation, limited elaboration.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Shallow or formulaic response.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Minimal understanding displayed.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A79620-44FF-0427-82B9-A955B5367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062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97BE-403B-122E-90D1-2788978A0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06400"/>
            <a:ext cx="4179570" cy="3457971"/>
          </a:xfrm>
        </p:spPr>
        <p:txBody>
          <a:bodyPr/>
          <a:lstStyle/>
          <a:p>
            <a:r>
              <a:rPr lang="en-US" dirty="0"/>
              <a:t>Total Accuracy</a:t>
            </a:r>
          </a:p>
        </p:txBody>
      </p:sp>
    </p:spTree>
    <p:extLst>
      <p:ext uri="{BB962C8B-B14F-4D97-AF65-F5344CB8AC3E}">
        <p14:creationId xmlns:p14="http://schemas.microsoft.com/office/powerpoint/2010/main" val="33469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D9B3-B64F-656A-0D99-161A6C0F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/>
          <a:lstStyle/>
          <a:p>
            <a:r>
              <a:rPr lang="en-US" dirty="0"/>
              <a:t>Total Accuracy Calculation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Placeholder 12">
                <a:extLst>
                  <a:ext uri="{FF2B5EF4-FFF2-40B4-BE49-F238E27FC236}">
                    <a16:creationId xmlns:a16="http://schemas.microsoft.com/office/drawing/2014/main" id="{7E5B6E40-3A7D-ACF7-AA38-25977D322D8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11054" y="2960876"/>
                <a:ext cx="10483374" cy="1090013"/>
              </a:xfr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𝑇𝑜𝑡𝑎𝑙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𝐴𝑐𝑐𝑢𝑟𝑎𝑐𝑦</m:t>
                      </m:r>
                      <m:r>
                        <a:rPr lang="en-GB" sz="24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𝑆𝑐𝑜𝑟𝑒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𝑤𝑒𝑖𝑔h𝑡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×100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 Placeholder 12">
                <a:extLst>
                  <a:ext uri="{FF2B5EF4-FFF2-40B4-BE49-F238E27FC236}">
                    <a16:creationId xmlns:a16="http://schemas.microsoft.com/office/drawing/2014/main" id="{7E5B6E40-3A7D-ACF7-AA38-25977D322D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11054" y="2960876"/>
                <a:ext cx="10483374" cy="1090013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3">
                <a:extLst>
                  <a:ext uri="{FF2B5EF4-FFF2-40B4-BE49-F238E27FC236}">
                    <a16:creationId xmlns:a16="http://schemas.microsoft.com/office/drawing/2014/main" id="{5112969F-EB84-49D5-7100-1FB28870FB30}"/>
                  </a:ext>
                </a:extLst>
              </p:cNvPr>
              <p:cNvSpPr>
                <a:spLocks noGrp="1"/>
              </p:cNvSpPr>
              <p:nvPr>
                <p:ph sz="half" idx="14"/>
              </p:nvPr>
            </p:nvSpPr>
            <p:spPr>
              <a:xfrm>
                <a:off x="1341120" y="4050889"/>
                <a:ext cx="9953308" cy="303148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: number of metrics (in this case 5)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𝑆𝑐𝑜𝑟𝑒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: Score given by the evaluator for a 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-</a:t>
                </a:r>
                <a:r>
                  <a:rPr lang="en-US" b="0" dirty="0" err="1"/>
                  <a:t>th</a:t>
                </a:r>
                <a:r>
                  <a:rPr lang="en-US" b="0" dirty="0"/>
                  <a:t> metric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𝑤𝑒𝑖𝑔h𝑡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: Weight of 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th</a:t>
                </a:r>
                <a:r>
                  <a:rPr lang="en-US" dirty="0"/>
                  <a:t> metric</a:t>
                </a:r>
              </a:p>
              <a:p>
                <a:pPr marL="0" lvl="1" indent="0">
                  <a:buNone/>
                </a:pPr>
                <a:r>
                  <a:rPr lang="en-US" dirty="0"/>
                  <a:t>Note that the Total Accuracy ranges from 20% to 100%.</a:t>
                </a:r>
              </a:p>
            </p:txBody>
          </p:sp>
        </mc:Choice>
        <mc:Fallback xmlns="">
          <p:sp>
            <p:nvSpPr>
              <p:cNvPr id="14" name="Content Placeholder 13">
                <a:extLst>
                  <a:ext uri="{FF2B5EF4-FFF2-40B4-BE49-F238E27FC236}">
                    <a16:creationId xmlns:a16="http://schemas.microsoft.com/office/drawing/2014/main" id="{5112969F-EB84-49D5-7100-1FB28870FB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4"/>
              </p:nvPr>
            </p:nvSpPr>
            <p:spPr>
              <a:xfrm>
                <a:off x="1341120" y="4050889"/>
                <a:ext cx="9953308" cy="3031489"/>
              </a:xfrm>
              <a:blipFill>
                <a:blip r:embed="rId4"/>
                <a:stretch>
                  <a:fillRect l="-490" t="-2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AA0ACADD-CC4E-851C-DA07-C22DB97FA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929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3E5FEE2D-79E5-4C1D-8BF7-EE619CA70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550"/>
            <a:ext cx="10515600" cy="1325563"/>
          </a:xfrm>
        </p:spPr>
        <p:txBody>
          <a:bodyPr anchor="b"/>
          <a:lstStyle/>
          <a:p>
            <a:r>
              <a:rPr lang="en-US" dirty="0"/>
              <a:t>Total Accuracy Ranges</a:t>
            </a:r>
          </a:p>
        </p:txBody>
      </p:sp>
      <p:graphicFrame>
        <p:nvGraphicFramePr>
          <p:cNvPr id="13" name="Table Placeholder 2">
            <a:extLst>
              <a:ext uri="{FF2B5EF4-FFF2-40B4-BE49-F238E27FC236}">
                <a16:creationId xmlns:a16="http://schemas.microsoft.com/office/drawing/2014/main" id="{4A94C7BE-6E60-66F0-EFD4-2F452B0D743A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2431499263"/>
              </p:ext>
            </p:extLst>
          </p:nvPr>
        </p:nvGraphicFramePr>
        <p:xfrm>
          <a:off x="838200" y="2111375"/>
          <a:ext cx="10515600" cy="3793347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625645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6889955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</a:tblGrid>
              <a:tr h="733347">
                <a:tc>
                  <a:txBody>
                    <a:bodyPr/>
                    <a:lstStyle/>
                    <a:p>
                      <a:pPr algn="ctr"/>
                      <a:r>
                        <a:rPr lang="en-US" b="0" cap="all" baseline="0" dirty="0"/>
                        <a:t>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cap="all" baseline="0" dirty="0"/>
                        <a:t>Descriptor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90% - 100%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Excellent response demonstrating mastery.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70% - 89%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Strong response with few weaknesses.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50% - 69%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Average performance with noticeable issues.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30% - 49%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Weak, inconsistent, or flawed response.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20% - 29%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Unsatisfactory or irrelevant.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832B776-E386-1CF9-CC8F-2D2FF3EA7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821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09140014-73D5-419B-8867-972BB18D5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192"/>
            <a:ext cx="5655197" cy="1117981"/>
          </a:xfrm>
        </p:spPr>
        <p:txBody>
          <a:bodyPr anchor="b"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E1CF79-4FDC-8CAF-CC16-E309A2C49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84070"/>
            <a:ext cx="5733772" cy="448990"/>
          </a:xfrm>
        </p:spPr>
        <p:txBody>
          <a:bodyPr/>
          <a:lstStyle/>
          <a:p>
            <a:r>
              <a:rPr lang="en-US" dirty="0"/>
              <a:t>Inter-rater Reliability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33D8731E-4977-402E-8BFD-895B4D054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198" y="2633059"/>
            <a:ext cx="10606550" cy="3567309"/>
          </a:xfrm>
        </p:spPr>
        <p:txBody>
          <a:bodyPr>
            <a:noAutofit/>
          </a:bodyPr>
          <a:lstStyle/>
          <a:p>
            <a:r>
              <a:rPr lang="en-US" dirty="0"/>
              <a:t>Inter-rater reliability may be useful to assess the degree of agreement between evaluators.</a:t>
            </a:r>
          </a:p>
          <a:p>
            <a:r>
              <a:rPr lang="en-US" dirty="0"/>
              <a:t>Some potentially useful coefficients: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Cohen’s Kappa Coefficient (for exactly 2 evaluators)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Fleiss’s Kappa Coefficient (for more than 2 evaluators)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Intraclass Correlation Coefficient (ICC)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Spearman’s Rank Correlation Coefficient (Spearman’s </a:t>
            </a:r>
            <a:r>
              <a:rPr lang="el-GR" dirty="0"/>
              <a:t>ρ</a:t>
            </a:r>
            <a:r>
              <a:rPr lang="en-US" dirty="0"/>
              <a:t>)</a:t>
            </a:r>
          </a:p>
          <a:p>
            <a:r>
              <a:rPr lang="en-US" dirty="0"/>
              <a:t>ANOVA was used to give an estimate for the inter-rater reliability.</a:t>
            </a:r>
          </a:p>
          <a:p>
            <a:r>
              <a:rPr lang="en-US" dirty="0"/>
              <a:t>Keep in mind that even though the criteria is clear, the evaluations may be subjective.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96FFDC-ADE8-4009-A466-A81787258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577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769716"/>
            <a:ext cx="4179570" cy="646129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1681317"/>
            <a:ext cx="6646606" cy="4406968"/>
          </a:xfrm>
        </p:spPr>
        <p:txBody>
          <a:bodyPr>
            <a:noAutofit/>
          </a:bodyPr>
          <a:lstStyle/>
          <a:p>
            <a:r>
              <a:rPr lang="en-US" b="1" i="1" dirty="0"/>
              <a:t>Chain-of-Thought vs. Few-Shot: A Comparative Study of Prompting Strategies for Code Generation</a:t>
            </a:r>
          </a:p>
          <a:p>
            <a:endParaRPr lang="en-US" dirty="0"/>
          </a:p>
          <a:p>
            <a:r>
              <a:rPr lang="en-US" dirty="0"/>
              <a:t>Koorosh Nobakhtfar</a:t>
            </a:r>
          </a:p>
          <a:p>
            <a:r>
              <a:rPr lang="en-US" dirty="0"/>
              <a:t>Kenan </a:t>
            </a:r>
            <a:r>
              <a:rPr lang="en-US" dirty="0" err="1"/>
              <a:t>Çakılcı</a:t>
            </a:r>
            <a:endParaRPr lang="en-US" dirty="0"/>
          </a:p>
          <a:p>
            <a:r>
              <a:rPr lang="en-US" dirty="0"/>
              <a:t>Ruken Zilan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{01B0B082-8717-4BE1-868A-0B8A1E0C5A91}TF7521aafa-c748-4c40-a498-ba511be234dc5b1b6097_win32-5039330bb2f3</Template>
  <TotalTime>143</TotalTime>
  <Words>826</Words>
  <Application>Microsoft Office PowerPoint</Application>
  <PresentationFormat>Widescreen</PresentationFormat>
  <Paragraphs>168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Cambria Math</vt:lpstr>
      <vt:lpstr>Tenorite</vt:lpstr>
      <vt:lpstr>Wingdings</vt:lpstr>
      <vt:lpstr>Custom</vt:lpstr>
      <vt:lpstr>Accuracy Evaluation Process and Criteria</vt:lpstr>
      <vt:lpstr>AGENDA</vt:lpstr>
      <vt:lpstr>Overview</vt:lpstr>
      <vt:lpstr>Overview</vt:lpstr>
      <vt:lpstr>Overview</vt:lpstr>
      <vt:lpstr>The Criteria</vt:lpstr>
      <vt:lpstr>PowerPoint Presentation</vt:lpstr>
      <vt:lpstr>Factual Correctness</vt:lpstr>
      <vt:lpstr>Reasoning Quality</vt:lpstr>
      <vt:lpstr>Coherency &amp; Clarity</vt:lpstr>
      <vt:lpstr>Completeness</vt:lpstr>
      <vt:lpstr>Understanding Depth</vt:lpstr>
      <vt:lpstr>Total Accuracy</vt:lpstr>
      <vt:lpstr>Total Accuracy Calculation</vt:lpstr>
      <vt:lpstr>Total Accuracy Ranges</vt:lpstr>
      <vt:lpstr>Final tips &amp; takeaways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Koorosh NOBAKHTFAR</dc:creator>
  <cp:lastModifiedBy>Koorosh Nobakhtfar</cp:lastModifiedBy>
  <cp:revision>20</cp:revision>
  <dcterms:created xsi:type="dcterms:W3CDTF">2026-01-21T21:54:47Z</dcterms:created>
  <dcterms:modified xsi:type="dcterms:W3CDTF">2026-01-27T00:44:23Z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